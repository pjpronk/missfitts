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4" r:id="rId2"/>
    <p:sldId id="266" r:id="rId3"/>
    <p:sldId id="268" r:id="rId4"/>
    <p:sldId id="261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DD97"/>
    <a:srgbClr val="639922"/>
    <a:srgbClr val="0B1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89"/>
  </p:normalViewPr>
  <p:slideViewPr>
    <p:cSldViewPr snapToGrid="0" snapToObjects="1">
      <p:cViewPr varScale="1">
        <p:scale>
          <a:sx n="147" d="100"/>
          <a:sy n="147" d="100"/>
        </p:scale>
        <p:origin x="10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FBDBEB-B03D-074A-BEAE-FF56023BB9A9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958FC8-2C66-3547-ABCE-E328677F31D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152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EA783-B2CA-5142-9628-1E5DB48548E7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370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0%</a:t>
            </a:r>
          </a:p>
        </p:txBody>
      </p:sp>
      <p:sp>
        <p:nvSpPr>
          <p:cNvPr id="14" name="TextBox 13"/>
          <p:cNvSpPr txBox="1">
            <a:spLocks noSelect="1" noMove="1" noResize="1"/>
          </p:cNvSpPr>
          <p:nvPr/>
        </p:nvSpPr>
        <p:spPr>
          <a:xfrm>
            <a:off x="11684181" y="301752"/>
            <a:ext cx="18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endParaRPr lang="nl-NL" sz="1000" b="0" dirty="0">
              <a:solidFill>
                <a:srgbClr val="3B6D11"/>
              </a:solidFill>
              <a:latin typeface="Courier New"/>
            </a:endParaRPr>
          </a:p>
        </p:txBody>
      </p:sp>
      <p:sp>
        <p:nvSpPr>
          <p:cNvPr id="15" name="Rectangle 14"/>
          <p:cNvSpPr>
            <a:spLocks noSelect="1" noMove="1" noResize="1"/>
          </p:cNvSpPr>
          <p:nvPr/>
        </p:nvSpPr>
        <p:spPr>
          <a:xfrm>
            <a:off x="5850696" y="0"/>
            <a:ext cx="18288" cy="68580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SYSTEM BOOT..........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00784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LOADING ASSETS.......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29968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ESTABLISHING LINK.... OK</a:t>
            </a:r>
          </a:p>
        </p:txBody>
      </p:sp>
      <p:sp>
        <p:nvSpPr>
          <p:cNvPr id="20" name="Rectangle 19"/>
          <p:cNvSpPr>
            <a:spLocks noSelect="1" noMove="1" noResize="1"/>
          </p:cNvSpPr>
          <p:nvPr/>
        </p:nvSpPr>
        <p:spPr>
          <a:xfrm>
            <a:off x="594360" y="2487168"/>
            <a:ext cx="256032" cy="36576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59" y="2674059"/>
            <a:ext cx="46281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3200" b="1" noProof="1">
                <a:solidFill>
                  <a:srgbClr val="C0DD97"/>
                </a:solidFill>
                <a:latin typeface="Courier New"/>
              </a:rPr>
              <a:t>Operation </a:t>
            </a:r>
            <a:r>
              <a:rPr lang="en-GB" sz="3200" b="1" noProof="0" dirty="0" err="1">
                <a:solidFill>
                  <a:srgbClr val="C0DD97"/>
                </a:solidFill>
                <a:latin typeface="Courier New"/>
              </a:rPr>
              <a:t>MissFits</a:t>
            </a:r>
            <a:endParaRPr lang="en-GB" sz="3200" b="1" noProof="1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2" name="Rectangle 21"/>
          <p:cNvSpPr>
            <a:spLocks noSelect="1" noMove="1" noResize="1"/>
          </p:cNvSpPr>
          <p:nvPr/>
        </p:nvSpPr>
        <p:spPr>
          <a:xfrm>
            <a:off x="594360" y="3429000"/>
            <a:ext cx="5256336" cy="1371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59" y="3329974"/>
            <a:ext cx="5256336" cy="276999"/>
          </a:xfrm>
          <a:prstGeom prst="rect">
            <a:avLst/>
          </a:prstGeom>
          <a:solidFill>
            <a:srgbClr val="0B150A"/>
          </a:solidFill>
        </p:spPr>
        <p:txBody>
          <a:bodyPr wrap="square">
            <a:spAutoFit/>
          </a:bodyPr>
          <a:lstStyle/>
          <a:p>
            <a:pPr algn="l"/>
            <a:r>
              <a:rPr lang="en-GB" sz="1200" dirty="0">
                <a:solidFill>
                  <a:srgbClr val="C0DD97"/>
                </a:solidFill>
                <a:latin typeface="Courier New"/>
              </a:rPr>
              <a:t>Evaluating </a:t>
            </a:r>
            <a:r>
              <a:rPr lang="en-GB" sz="1200" b="0" dirty="0">
                <a:solidFill>
                  <a:srgbClr val="C0DD97"/>
                </a:solidFill>
                <a:latin typeface="Courier New"/>
              </a:rPr>
              <a:t>Haptic Guidance for Aiming Optimization</a:t>
            </a:r>
            <a:endParaRPr sz="1200" b="0" dirty="0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33393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R2oD 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OPERATOR....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..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 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THIJMEN STAATSEN 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306823"/>
            <a:ext cx="287771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5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CRN CLEARANCE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....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.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PO-YU HSIEH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7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en-GB" sz="1000" b="0" dirty="0">
                <a:solidFill>
                  <a:srgbClr val="639922"/>
                </a:solidFill>
                <a:latin typeface="Courier New"/>
              </a:rPr>
              <a:t>H4PL1 COORDINATOR</a:t>
            </a:r>
            <a:r>
              <a:rPr lang="en-NL" sz="1000" b="0" dirty="0">
                <a:solidFill>
                  <a:srgbClr val="639922"/>
                </a:solidFill>
                <a:latin typeface="Courier New"/>
              </a:rPr>
              <a:t>….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 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PACO PRONK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FCAE2B-1E19-2467-441B-55B0669A6C39}"/>
              </a:ext>
            </a:extLst>
          </p:cNvPr>
          <p:cNvSpPr txBox="1"/>
          <p:nvPr/>
        </p:nvSpPr>
        <p:spPr>
          <a:xfrm>
            <a:off x="594359" y="5294375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000" dirty="0">
                <a:solidFill>
                  <a:srgbClr val="639922"/>
                </a:solidFill>
                <a:latin typeface="Courier New"/>
              </a:rPr>
              <a:t>&gt;  DATE OF BRIEFING.... 26-03-2026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1"/>
            <a:ext cx="31854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000" dirty="0">
                <a:solidFill>
                  <a:srgbClr val="639922"/>
                </a:solidFill>
                <a:latin typeface="Courier New"/>
              </a:rPr>
              <a:t>&gt;  TRG3T SELECTOR...... DAMON DE GROOT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7305"/>
            <a:ext cx="9541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3B6D11"/>
                </a:solidFill>
                <a:latin typeface="Courier New"/>
              </a:rPr>
              <a:t>&gt;  READY _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56AB7CC-AF09-E56D-52AB-E749E19492AD}"/>
              </a:ext>
            </a:extLst>
          </p:cNvPr>
          <p:cNvCxnSpPr/>
          <p:nvPr/>
        </p:nvCxnSpPr>
        <p:spPr>
          <a:xfrm>
            <a:off x="640080" y="3258834"/>
            <a:ext cx="4901769" cy="0"/>
          </a:xfrm>
          <a:prstGeom prst="line">
            <a:avLst/>
          </a:prstGeom>
          <a:ln w="6350">
            <a:solidFill>
              <a:srgbClr val="63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CDFBC-01E8-4FE3-2987-86396E94BE6B}"/>
              </a:ext>
            </a:extLst>
          </p:cNvPr>
          <p:cNvSpPr/>
          <p:nvPr/>
        </p:nvSpPr>
        <p:spPr>
          <a:xfrm>
            <a:off x="513807" y="6217920"/>
            <a:ext cx="5336890" cy="246221"/>
          </a:xfrm>
          <a:prstGeom prst="rect">
            <a:avLst/>
          </a:prstGeom>
          <a:solidFill>
            <a:srgbClr val="0B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779179-737B-14D8-FF3D-ADC1747E65B0}"/>
              </a:ext>
            </a:extLst>
          </p:cNvPr>
          <p:cNvSpPr/>
          <p:nvPr/>
        </p:nvSpPr>
        <p:spPr>
          <a:xfrm>
            <a:off x="5931250" y="6229684"/>
            <a:ext cx="5708021" cy="246221"/>
          </a:xfrm>
          <a:prstGeom prst="rect">
            <a:avLst/>
          </a:prstGeom>
          <a:solidFill>
            <a:srgbClr val="0B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4A4800-1059-4D3C-00CA-419AE430C95A}"/>
              </a:ext>
            </a:extLst>
          </p:cNvPr>
          <p:cNvSpPr/>
          <p:nvPr/>
        </p:nvSpPr>
        <p:spPr>
          <a:xfrm>
            <a:off x="5491744" y="0"/>
            <a:ext cx="993310" cy="6761987"/>
          </a:xfrm>
          <a:prstGeom prst="rect">
            <a:avLst/>
          </a:prstGeom>
          <a:solidFill>
            <a:srgbClr val="0B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F20B7D-2093-1533-540F-1CB1C9E9E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4" r="19825"/>
          <a:stretch>
            <a:fillRect/>
          </a:stretch>
        </p:blipFill>
        <p:spPr bwMode="auto">
          <a:xfrm>
            <a:off x="6578916" y="737138"/>
            <a:ext cx="4547490" cy="5383723"/>
          </a:xfrm>
          <a:prstGeom prst="rect">
            <a:avLst/>
          </a:prstGeom>
          <a:noFill/>
          <a:ln w="28575">
            <a:solidFill>
              <a:srgbClr val="63992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0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TABLE OF 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1965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dirty="0">
                <a:solidFill>
                  <a:srgbClr val="3B6D11"/>
                </a:solidFill>
                <a:latin typeface="Courier New"/>
              </a:rPr>
              <a:t>&gt;  LOADING MISSION INDEX...........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377440"/>
            <a:ext cx="213872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97C459"/>
                </a:solidFill>
                <a:latin typeface="Courier New"/>
              </a:rPr>
              <a:t>&gt;  01  // 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INTRODUCTION</a:t>
            </a:r>
            <a:endParaRPr sz="11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94476" y="2377440"/>
            <a:ext cx="22236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97C459"/>
                </a:solidFill>
                <a:latin typeface="Courier New"/>
              </a:rPr>
              <a:t>&gt; 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05</a:t>
            </a:r>
            <a:r>
              <a:rPr sz="1100" b="0" dirty="0">
                <a:solidFill>
                  <a:srgbClr val="97C459"/>
                </a:solidFill>
                <a:latin typeface="Courier New"/>
              </a:rPr>
              <a:t>  //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 </a:t>
            </a:r>
            <a:r>
              <a:rPr lang="nl-NL" sz="1100" dirty="0">
                <a:solidFill>
                  <a:srgbClr val="97C459"/>
                </a:solidFill>
                <a:latin typeface="Courier New"/>
              </a:rPr>
              <a:t>INTRODUCTION</a:t>
            </a:r>
            <a:endParaRPr sz="11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2880360"/>
            <a:ext cx="213872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97C459"/>
                </a:solidFill>
                <a:latin typeface="Courier New"/>
              </a:rPr>
              <a:t>&gt;  0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2</a:t>
            </a:r>
            <a:r>
              <a:rPr sz="1100" b="0" dirty="0">
                <a:solidFill>
                  <a:srgbClr val="97C459"/>
                </a:solidFill>
                <a:latin typeface="Courier New"/>
              </a:rPr>
              <a:t>  //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 </a:t>
            </a:r>
            <a:r>
              <a:rPr lang="nl-NL" sz="1100" dirty="0">
                <a:solidFill>
                  <a:srgbClr val="97C459"/>
                </a:solidFill>
                <a:latin typeface="Courier New"/>
              </a:rPr>
              <a:t>INTRODUCTION</a:t>
            </a:r>
            <a:endParaRPr sz="11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94476" y="2880360"/>
            <a:ext cx="22236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97C459"/>
                </a:solidFill>
                <a:latin typeface="Courier New"/>
              </a:rPr>
              <a:t>&gt; 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06</a:t>
            </a:r>
            <a:r>
              <a:rPr sz="1100" b="0" dirty="0">
                <a:solidFill>
                  <a:srgbClr val="97C459"/>
                </a:solidFill>
                <a:latin typeface="Courier New"/>
              </a:rPr>
              <a:t>  //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 </a:t>
            </a:r>
            <a:r>
              <a:rPr lang="nl-NL" sz="1100" dirty="0">
                <a:solidFill>
                  <a:srgbClr val="97C459"/>
                </a:solidFill>
                <a:latin typeface="Courier New"/>
              </a:rPr>
              <a:t>INTRODUCTION</a:t>
            </a:r>
            <a:endParaRPr sz="11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3383280"/>
            <a:ext cx="19688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97C459"/>
                </a:solidFill>
                <a:latin typeface="Courier New"/>
              </a:rPr>
              <a:t>&gt; 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03</a:t>
            </a:r>
            <a:r>
              <a:rPr sz="1100" b="0" dirty="0">
                <a:solidFill>
                  <a:srgbClr val="97C459"/>
                </a:solidFill>
                <a:latin typeface="Courier New"/>
              </a:rPr>
              <a:t>  //  DATA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3383280"/>
            <a:ext cx="22236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97C459"/>
                </a:solidFill>
                <a:latin typeface="Courier New"/>
              </a:rPr>
              <a:t>&gt; 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07</a:t>
            </a:r>
            <a:r>
              <a:rPr sz="1100" b="0" dirty="0">
                <a:solidFill>
                  <a:srgbClr val="97C459"/>
                </a:solidFill>
                <a:latin typeface="Courier New"/>
              </a:rPr>
              <a:t>  //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 </a:t>
            </a:r>
            <a:r>
              <a:rPr lang="nl-NL" sz="1100" dirty="0">
                <a:solidFill>
                  <a:srgbClr val="97C459"/>
                </a:solidFill>
                <a:latin typeface="Courier New"/>
              </a:rPr>
              <a:t>INTRODUCTION</a:t>
            </a:r>
            <a:endParaRPr sz="11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" y="3886200"/>
            <a:ext cx="213872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dirty="0">
                <a:solidFill>
                  <a:srgbClr val="97C459"/>
                </a:solidFill>
                <a:latin typeface="Courier New"/>
              </a:rPr>
              <a:t>&gt; 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04</a:t>
            </a:r>
            <a:r>
              <a:rPr sz="1100" b="0" dirty="0">
                <a:solidFill>
                  <a:srgbClr val="97C459"/>
                </a:solidFill>
                <a:latin typeface="Courier New"/>
              </a:rPr>
              <a:t>  // </a:t>
            </a:r>
            <a:r>
              <a:rPr lang="nl-NL" sz="1100" b="0" dirty="0">
                <a:solidFill>
                  <a:srgbClr val="97C459"/>
                </a:solidFill>
                <a:latin typeface="Courier New"/>
              </a:rPr>
              <a:t> </a:t>
            </a:r>
            <a:r>
              <a:rPr lang="nl-NL" sz="1100" dirty="0">
                <a:solidFill>
                  <a:srgbClr val="97C459"/>
                </a:solidFill>
                <a:latin typeface="Courier New"/>
              </a:rPr>
              <a:t>INTRODUCTION</a:t>
            </a:r>
            <a:endParaRPr sz="11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5394960"/>
            <a:ext cx="10451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dirty="0">
                <a:solidFill>
                  <a:srgbClr val="3B6D11"/>
                </a:solidFill>
                <a:latin typeface="Courier New"/>
              </a:rPr>
              <a:t>&gt;  AWAITING INPUT _</a:t>
            </a:r>
          </a:p>
        </p:txBody>
      </p:sp>
      <p:sp>
        <p:nvSpPr>
          <p:cNvPr id="29" name="Rectangle 28"/>
          <p:cNvSpPr>
            <a:spLocks noSelect="1" noMove="1" noResiz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87D4-B7F5-AAC0-BF0C-5CEADDAC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B5464F-796A-B7AA-1425-406056593A82}"/>
              </a:ext>
            </a:extLst>
          </p:cNvPr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D2B18-25BC-1746-14A6-093F571B8A07}"/>
              </a:ext>
            </a:extLst>
          </p:cNvPr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D83B4-72FA-CB6D-6AFF-540449D8AB14}"/>
              </a:ext>
            </a:extLst>
          </p:cNvPr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83B6C6-99DF-06B7-3AB2-A53CC017456E}"/>
              </a:ext>
            </a:extLst>
          </p:cNvPr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E77910-B26B-7AFB-40DC-A5FFEDAF8640}"/>
              </a:ext>
            </a:extLst>
          </p:cNvPr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68DD84-C12D-A118-96FB-1CADEEA96FF5}"/>
              </a:ext>
            </a:extLst>
          </p:cNvPr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2A9082-C05E-34F3-F41F-0D224F2A2319}"/>
              </a:ext>
            </a:extLst>
          </p:cNvPr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04A7EF-6418-82FB-D521-589314DE45A1}"/>
              </a:ext>
            </a:extLst>
          </p:cNvPr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124E41-6A8F-EC0E-EBCF-78E1B690C2D4}"/>
              </a:ext>
            </a:extLst>
          </p:cNvPr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865BB6-2755-2A71-672E-8A8F57D9FC75}"/>
              </a:ext>
            </a:extLst>
          </p:cNvPr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1A4EF-D51E-37DE-D3B8-1C1F5011D95B}"/>
              </a:ext>
            </a:extLst>
          </p:cNvPr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AFA7B7-947D-74EE-77A6-E254306719BC}"/>
              </a:ext>
            </a:extLst>
          </p:cNvPr>
          <p:cNvSpPr>
            <a:spLocks noSelect="1" noMove="1" noResiz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678E15-C8C4-9741-B4A8-BEA5723DDD4C}"/>
              </a:ext>
            </a:extLst>
          </p:cNvPr>
          <p:cNvSpPr/>
          <p:nvPr/>
        </p:nvSpPr>
        <p:spPr>
          <a:xfrm>
            <a:off x="868680" y="6281928"/>
            <a:ext cx="1306449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53EFF8-8EE8-88E5-5A53-4E9615308B46}"/>
              </a:ext>
            </a:extLst>
          </p:cNvPr>
          <p:cNvSpPr txBox="1"/>
          <p:nvPr/>
        </p:nvSpPr>
        <p:spPr>
          <a:xfrm>
            <a:off x="868680" y="6025896"/>
            <a:ext cx="163217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nl-NL" sz="900" b="0" dirty="0">
                <a:solidFill>
                  <a:srgbClr val="97C459"/>
                </a:solidFill>
                <a:latin typeface="Courier New"/>
              </a:rPr>
              <a:t>PHASE 1</a:t>
            </a:r>
            <a:r>
              <a:rPr sz="900" b="0" dirty="0">
                <a:solidFill>
                  <a:srgbClr val="97C459"/>
                </a:solidFill>
                <a:latin typeface="Courier New"/>
              </a:rPr>
              <a:t>: </a:t>
            </a:r>
            <a:r>
              <a:rPr lang="nl-NL" sz="900" b="0" dirty="0">
                <a:solidFill>
                  <a:srgbClr val="97C459"/>
                </a:solidFill>
                <a:latin typeface="Courier New"/>
              </a:rPr>
              <a:t>INTRODUCTION</a:t>
            </a:r>
            <a:endParaRPr sz="900" b="0" dirty="0">
              <a:solidFill>
                <a:srgbClr val="97C459"/>
              </a:solidFill>
              <a:latin typeface="Courier New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C41DE3-8873-4807-9A55-68ECEC613CE2}"/>
              </a:ext>
            </a:extLst>
          </p:cNvPr>
          <p:cNvSpPr txBox="1"/>
          <p:nvPr/>
        </p:nvSpPr>
        <p:spPr>
          <a:xfrm>
            <a:off x="457200" y="443484"/>
            <a:ext cx="11079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nl-NL" sz="1000" b="0" dirty="0">
                <a:solidFill>
                  <a:srgbClr val="3B6D11"/>
                </a:solidFill>
                <a:latin typeface="Courier New"/>
              </a:rPr>
              <a:t>INTRODUCTION</a:t>
            </a:r>
            <a:endParaRPr sz="1000" b="0" dirty="0">
              <a:solidFill>
                <a:srgbClr val="3B6D11"/>
              </a:solidFill>
              <a:latin typeface="Courier New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EF751-4181-F760-B92B-B9A33102E8A1}"/>
              </a:ext>
            </a:extLst>
          </p:cNvPr>
          <p:cNvSpPr txBox="1"/>
          <p:nvPr/>
        </p:nvSpPr>
        <p:spPr>
          <a:xfrm>
            <a:off x="10268585" y="43662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3B6D11"/>
                </a:solidFill>
                <a:latin typeface="Courier New"/>
              </a:rPr>
              <a:t>01 / 07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78FCA-19FB-B83F-2500-7D9943B13CB7}"/>
              </a:ext>
            </a:extLst>
          </p:cNvPr>
          <p:cNvSpPr txBox="1"/>
          <p:nvPr/>
        </p:nvSpPr>
        <p:spPr>
          <a:xfrm>
            <a:off x="457200" y="1188720"/>
            <a:ext cx="276229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nl-NL" sz="2800" b="1" dirty="0">
                <a:solidFill>
                  <a:srgbClr val="C0DD97"/>
                </a:solidFill>
                <a:latin typeface="Courier New"/>
              </a:rPr>
              <a:t>INTRODUCTION</a:t>
            </a:r>
            <a:endParaRPr sz="2800" b="1" dirty="0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E8EBB-259D-8206-8FA0-4C7604541F8E}"/>
              </a:ext>
            </a:extLst>
          </p:cNvPr>
          <p:cNvSpPr txBox="1"/>
          <p:nvPr/>
        </p:nvSpPr>
        <p:spPr>
          <a:xfrm>
            <a:off x="457200" y="1920240"/>
            <a:ext cx="19688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nl-NL" sz="1100" b="0" dirty="0">
                <a:solidFill>
                  <a:srgbClr val="C0DD97"/>
                </a:solidFill>
                <a:latin typeface="Courier New"/>
              </a:rPr>
              <a:t>&gt; SOME SUBTITLE......</a:t>
            </a:r>
            <a:endParaRPr sz="1100" b="0" dirty="0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73F379-09ED-2741-57EC-9275C81B336C}"/>
              </a:ext>
            </a:extLst>
          </p:cNvPr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639922"/>
                </a:solidFill>
                <a:latin typeface="Courier New"/>
              </a:rPr>
              <a:t>&gt; Use this slide for your title and mission statement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AEB064-25A3-9480-B6FC-75AB00635EA3}"/>
              </a:ext>
            </a:extLst>
          </p:cNvPr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639922"/>
                </a:solidFill>
                <a:latin typeface="Courier New"/>
              </a:rPr>
              <a:t>&gt; Subtitle acts as a secondary context 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129754-3984-D98F-6F8F-77904244AC18}"/>
              </a:ext>
            </a:extLst>
          </p:cNvPr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639922"/>
                </a:solidFill>
                <a:latin typeface="Courier New"/>
              </a:rPr>
              <a:t>&gt; Corner brackets define the slide boundary</a:t>
            </a:r>
          </a:p>
        </p:txBody>
      </p:sp>
    </p:spTree>
    <p:extLst>
      <p:ext uri="{BB962C8B-B14F-4D97-AF65-F5344CB8AC3E}">
        <p14:creationId xmlns:p14="http://schemas.microsoft.com/office/powerpoint/2010/main" val="1194734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868680" y="6281928"/>
            <a:ext cx="10451592" cy="7315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6281928"/>
            <a:ext cx="6532245" cy="7315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6025896"/>
            <a:ext cx="274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7C459"/>
                </a:solidFill>
                <a:latin typeface="Courier New"/>
              </a:rPr>
              <a:t>PROGRESS: 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05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DATA TABLE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EDIT ROWS AND COLUMNS AS NEEDED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1945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A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B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01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ACTIVE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02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STANDBY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03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OFFLINE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198</Words>
  <Application>Microsoft Macintosh PowerPoint</Application>
  <PresentationFormat>Custom</PresentationFormat>
  <Paragraphs>56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Paco Pronk Pronk</cp:lastModifiedBy>
  <cp:revision>5</cp:revision>
  <dcterms:created xsi:type="dcterms:W3CDTF">2013-01-27T09:14:16Z</dcterms:created>
  <dcterms:modified xsi:type="dcterms:W3CDTF">2026-03-26T17:21:10Z</dcterms:modified>
  <cp:category/>
</cp:coreProperties>
</file>